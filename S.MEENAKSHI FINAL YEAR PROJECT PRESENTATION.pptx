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66" r:id="rId4"/>
    <p:sldId id="267" r:id="rId5"/>
    <p:sldId id="259" r:id="rId6"/>
    <p:sldId id="260" r:id="rId7"/>
    <p:sldId id="261" r:id="rId8"/>
    <p:sldId id="268" r:id="rId9"/>
    <p:sldId id="262" r:id="rId10"/>
    <p:sldId id="263" r:id="rId11"/>
    <p:sldId id="264" r:id="rId12"/>
    <p:sldId id="265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8A3C0-3D9C-4220-9513-2D54892315A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9B8568-D94C-46C6-B890-0AAB22CFD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611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F8760-128A-CD32-9481-92F569130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F6852-8723-5F5C-3A6C-331C0C544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2AD84C-4523-0BA4-608B-4A3B91508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84B87-14C7-87F7-467E-2DF881526F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288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F5A55-F2EE-A908-ED09-838981E55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572AA1-5856-B38A-B72A-252E46CE8F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7F875-6493-5042-201D-414E4A298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94DE8-2098-47C6-9C95-03024F79D84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D141E-B1E8-76E3-182D-75CF63F15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E7863-942A-CA38-B7FF-0DAE9955C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F1EE-616E-4407-84CC-7D19CD30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392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5C7BE-68A2-5B4F-04FE-5141DDE34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4DD85-AAD3-C504-DC42-756DF39CC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184AD-8B03-2ACD-7E2F-CF6BD10F9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94DE8-2098-47C6-9C95-03024F79D84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329D6-0182-8D8E-57C1-ED21E88EC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35E1A-2905-A8C3-7C41-994D1DF07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F1EE-616E-4407-84CC-7D19CD30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21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F4386-FFE4-AD0B-4797-F5088B9AF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D9CBB-3629-F130-0337-9F924B9B4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2D4D1-8514-61F5-9CD2-07139B7CC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94DE8-2098-47C6-9C95-03024F79D84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A2889-33C6-B9F5-FBA6-9A5D2F7D8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F2A86-B4B1-0259-4B93-301037ECA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F1EE-616E-4407-84CC-7D19CD30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100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79B51-EE46-01C8-65F0-D2A4C4F30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AAE24-8F52-8854-705C-FBEAD9CC6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B32E-72EA-F4A6-E289-665A5B0E2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5B8161-075D-EB2A-2D77-CA83B7F55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94DE8-2098-47C6-9C95-03024F79D84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7E41D2-5007-4F3B-054A-62AB3299F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04DF7-F615-166F-9521-F9A3A49E5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F1EE-616E-4407-84CC-7D19CD30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142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D4D32-33EE-301D-E0D0-8426C0F7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330AD-5F91-33C2-5394-9B88B50BA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B6B714-C769-112A-1DC8-181FC5760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9C1174-4B83-A76E-DA9B-3CED322F5D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8FA73B-4E3A-013C-DDEC-947CFBD3F2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6B0AB9-8C52-523D-D40F-9EEED3551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94DE8-2098-47C6-9C95-03024F79D84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6B35F6-080D-AFFA-6EE5-B7E2E736D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E752E0-E99B-9153-D047-B20EEAA3B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F1EE-616E-4407-84CC-7D19CD30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598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BD0CC-D393-0145-677A-87488C075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14B083-6333-5ACC-0E32-FDE0AC975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94DE8-2098-47C6-9C95-03024F79D84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28B0B3-652D-4480-76B8-0E4231A2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49C4E8-3C4C-ECCB-02F8-11934FD54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F1EE-616E-4407-84CC-7D19CD30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062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98E69D-0B72-6DC8-CC75-FD17E5D3E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94DE8-2098-47C6-9C95-03024F79D84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43FBEC-A8BA-D135-C37D-D0F236DEC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C2523-5A41-1707-739E-2DE12E9C2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F1EE-616E-4407-84CC-7D19CD30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924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2CE85-59E2-FC9F-0465-0E910F5A7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D7582-EA0C-5F9B-B7A3-D5803767A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FB068-60A4-CC8A-6C58-EC68EE309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A5C3F-38D6-FDA7-865C-D3074B272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94DE8-2098-47C6-9C95-03024F79D84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4DF11-C36C-3335-6621-4B5ED2A58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6A09C-57D3-A361-104D-0260BD9AD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F1EE-616E-4407-84CC-7D19CD30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226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A47D7-8CCB-E4EC-D98B-C48A8F366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9D9EA6-CEEC-2ACC-455A-DFF45EAA76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0AE95-A019-0E7A-C5FE-4B2FD1FDF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F31985-2A27-11B0-FE2A-D190346E1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94DE8-2098-47C6-9C95-03024F79D84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6908C-8560-D9AD-FD5B-3BA1E9D4C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D8FB9-8BA8-9764-68D5-114891B00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F1EE-616E-4407-84CC-7D19CD30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823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FF932-D220-75BB-8322-200A9A205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CA710F-BE1E-4FB9-F869-B004E50E9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CB2BE-2B06-DAC8-6355-49D1C3FDD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94DE8-2098-47C6-9C95-03024F79D84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1B296-5E16-8AB4-3FA7-B22175913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4ABF1-67B6-70E9-9651-8026CFFCF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F1EE-616E-4407-84CC-7D19CD30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698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E99D5-BA6D-1368-57DD-2D37122E93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75F3A7-3BF2-47EB-4FFB-1DB1C751A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CFC90-E24D-F42D-C7D3-AFDE4A1A1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94DE8-2098-47C6-9C95-03024F79D84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D4E1D-8785-A66D-8B1A-4F0CFBE1B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06181-82A5-806D-DA58-9636AE4DB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F1EE-616E-4407-84CC-7D19CD30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228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8690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0D98B5-18F0-72B6-0D54-69A44BE31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125FB-8F49-1393-F22A-922E531CD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479BB-37BE-AFAA-01BE-FB08991549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94DE8-2098-47C6-9C95-03024F79D84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35574-0D9B-94E5-29E1-30B1CEE8AF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99091-4F41-3420-298A-B64825DD48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FF1EE-616E-4407-84CC-7D19CD30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738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2.xml" /><Relationship Id="rId4" Type="http://schemas.openxmlformats.org/officeDocument/2006/relationships/image" Target="../media/image4.jpeg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1417320"/>
            <a:ext cx="12161520" cy="36576"/>
          </a:xfrm>
          <a:prstGeom prst="rect">
            <a:avLst/>
          </a:prstGeom>
          <a:solidFill>
            <a:srgbClr val="E8BBBB"/>
          </a:solidFill>
          <a:ln w="12700">
            <a:solidFill>
              <a:srgbClr val="E8BBB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1536192"/>
            <a:ext cx="1216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University of Madras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20040" y="1965960"/>
            <a:ext cx="11521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BB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-319596" y="2011680"/>
            <a:ext cx="12801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0C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STUDY ON FINANCIAL FRAUD DETECTION PRACTICE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600" b="1" dirty="0">
                <a:solidFill>
                  <a:srgbClr val="8B0C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WITH REFERENCE TO KOLON INDUSTRIES INDIA PRIVATE LIMITED, THIRUVALLUR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0" y="4352544"/>
            <a:ext cx="12161520" cy="36576"/>
          </a:xfrm>
          <a:prstGeom prst="rect">
            <a:avLst/>
          </a:prstGeom>
          <a:solidFill>
            <a:srgbClr val="E8BBBB"/>
          </a:solidFill>
          <a:ln w="12700">
            <a:solidFill>
              <a:srgbClr val="E8BB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480560"/>
            <a:ext cx="1216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Submitted By: </a:t>
            </a:r>
            <a:r>
              <a:rPr lang="en-US" sz="1600" b="1" dirty="0">
                <a:solidFill>
                  <a:srgbClr val="8B0C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S. MEENAKSHI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| 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Reg. No: 712400705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0" y="4901184"/>
            <a:ext cx="1216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Under the Guidance of: </a:t>
            </a:r>
            <a:r>
              <a:rPr lang="en-US" sz="1600" b="1" dirty="0">
                <a:solidFill>
                  <a:srgbClr val="8B0C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Dr. V. SRINIVASAN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(B.Sc, MBA, Ph.D)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0" y="5349240"/>
            <a:ext cx="1216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S.A. College of Arts &amp; Science, Chennai  |  April 2026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0" y="6492240"/>
            <a:ext cx="12161520" cy="36576"/>
          </a:xfrm>
          <a:prstGeom prst="rect">
            <a:avLst/>
          </a:prstGeom>
          <a:solidFill>
            <a:srgbClr val="E8BBBB"/>
          </a:solidFill>
          <a:ln w="12700">
            <a:solidFill>
              <a:srgbClr val="E8BBBB"/>
            </a:solidFill>
            <a:prstDash val="solid"/>
          </a:ln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A62AA99-0522-07F1-02C2-FC38586C2F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919" y="182499"/>
            <a:ext cx="5663682" cy="11341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214704" cy="640080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73152" cy="6217920"/>
          </a:xfrm>
          <a:prstGeom prst="rect">
            <a:avLst/>
          </a:prstGeom>
          <a:solidFill>
            <a:srgbClr val="8B0C1E"/>
          </a:solidFill>
          <a:ln w="12700">
            <a:solidFill>
              <a:srgbClr val="8B0C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2214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ea typeface="Calibri" pitchFamily="34" charset="-122"/>
                <a:cs typeface="Times New Roman" panose="02020603050405020304" pitchFamily="18" charset="0"/>
              </a:rPr>
              <a:t>Introduction – Financial Fraud Detection</a:t>
            </a:r>
            <a:endParaRPr lang="en-US" sz="3200" dirty="0"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247120" y="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" y="6492240"/>
            <a:ext cx="12088368" cy="27432"/>
          </a:xfrm>
          <a:prstGeom prst="rect">
            <a:avLst/>
          </a:prstGeom>
          <a:solidFill>
            <a:srgbClr val="E8E8EC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19672"/>
            <a:ext cx="1179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79" y="777240"/>
            <a:ext cx="6451185" cy="2651760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8229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Financial Fraud?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1523549"/>
            <a:ext cx="6314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endParaRPr lang="en-US" sz="2000" dirty="0">
              <a:solidFill>
                <a:srgbClr val="F8D7DA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fraud is the intentional misuse of money, records or company assets for personal gain. It causes financial loss and affects the company’s reputation.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8308" y="4274820"/>
            <a:ext cx="2110742" cy="757855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" y="4631436"/>
            <a:ext cx="2825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542535" y="4293108"/>
            <a:ext cx="2011091" cy="739566"/>
          </a:xfrm>
          <a:prstGeom prst="rect">
            <a:avLst/>
          </a:prstGeom>
          <a:solidFill>
            <a:srgbClr val="8B0C1E"/>
          </a:solidFill>
          <a:ln w="12700">
            <a:solidFill>
              <a:srgbClr val="8B0C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32266" y="4608576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64188" y="4283964"/>
            <a:ext cx="1756672" cy="739566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8324" y="4522805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4635" y="5416723"/>
            <a:ext cx="2110742" cy="969264"/>
          </a:xfrm>
          <a:prstGeom prst="rect">
            <a:avLst/>
          </a:prstGeom>
          <a:solidFill>
            <a:srgbClr val="8B0C1E"/>
          </a:solidFill>
          <a:ln w="12700">
            <a:solidFill>
              <a:srgbClr val="8B0C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" y="5605272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37506" y="5416722"/>
            <a:ext cx="2016120" cy="934416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12264" y="557784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77391" y="5427415"/>
            <a:ext cx="1756672" cy="934416"/>
          </a:xfrm>
          <a:prstGeom prst="rect">
            <a:avLst/>
          </a:prstGeom>
          <a:solidFill>
            <a:srgbClr val="8B0C1E"/>
          </a:solidFill>
          <a:ln w="12700">
            <a:solidFill>
              <a:srgbClr val="8B0C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6704" y="5573548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288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Financial Fraud: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006679" y="1082375"/>
            <a:ext cx="45720" cy="292608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71346" y="103207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of Detection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315823" y="1545827"/>
            <a:ext cx="4876177" cy="2116324"/>
          </a:xfrm>
          <a:prstGeom prst="rect">
            <a:avLst/>
          </a:prstGeom>
          <a:noFill/>
          <a:ln/>
        </p:spPr>
        <p:txBody>
          <a:bodyPr wrap="square" numCol="1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cs typeface="Calibri" pitchFamily="34" charset="-120"/>
              </a:rPr>
              <a:t>Prevents financial losses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cs typeface="Calibri" pitchFamily="34" charset="-120"/>
              </a:rPr>
              <a:t>Protects company assets 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cs typeface="Calibri" pitchFamily="34" charset="-120"/>
              </a:rPr>
              <a:t>Improves trust and reputation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cs typeface="Calibri" pitchFamily="34" charset="-120"/>
              </a:rPr>
              <a:t>Ensures legal compliance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cs typeface="Calibri" pitchFamily="34" charset="-120"/>
              </a:rPr>
              <a:t>Promotes ethical behavior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087224" y="2213291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006679" y="3965113"/>
            <a:ext cx="45720" cy="292608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74145" y="394846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Study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74145" y="4934377"/>
            <a:ext cx="486172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>
              <a:lnSpc>
                <a:spcPct val="150000"/>
              </a:lnSpc>
              <a:buSzPct val="100000"/>
            </a:pPr>
            <a:r>
              <a:rPr lang="en-US" sz="2000" dirty="0"/>
              <a:t>This study evaluates the effectiveness of financial fraud detection practices and internal controls in Kolon Industries India Pvt. Ltd., Tiruvallur</a:t>
            </a:r>
            <a:endParaRPr lang="en-US" sz="105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AEB7AA-5FB8-C471-EEE2-34D2E24227B2}"/>
              </a:ext>
            </a:extLst>
          </p:cNvPr>
          <p:cNvSpPr txBox="1"/>
          <p:nvPr/>
        </p:nvSpPr>
        <p:spPr>
          <a:xfrm>
            <a:off x="249421" y="4357116"/>
            <a:ext cx="2011091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Procurement fraud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4836BB-0C33-1C33-5C30-EEC2B625B394}"/>
              </a:ext>
            </a:extLst>
          </p:cNvPr>
          <p:cNvSpPr txBox="1"/>
          <p:nvPr/>
        </p:nvSpPr>
        <p:spPr>
          <a:xfrm>
            <a:off x="2666884" y="4479372"/>
            <a:ext cx="1819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Inventory Fraud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484EEF-9112-FC17-0EA6-642D68D4C4C5}"/>
              </a:ext>
            </a:extLst>
          </p:cNvPr>
          <p:cNvSpPr txBox="1"/>
          <p:nvPr/>
        </p:nvSpPr>
        <p:spPr>
          <a:xfrm>
            <a:off x="5065868" y="4479372"/>
            <a:ext cx="1487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Payroll Fraud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CEDB9C-E350-2279-BB67-88A193EF4612}"/>
              </a:ext>
            </a:extLst>
          </p:cNvPr>
          <p:cNvSpPr txBox="1"/>
          <p:nvPr/>
        </p:nvSpPr>
        <p:spPr>
          <a:xfrm>
            <a:off x="177427" y="5455469"/>
            <a:ext cx="19348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Expenses Reimbursement fraud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D6A076-177D-A1C7-EEFD-7D90E6F653D0}"/>
              </a:ext>
            </a:extLst>
          </p:cNvPr>
          <p:cNvSpPr txBox="1"/>
          <p:nvPr/>
        </p:nvSpPr>
        <p:spPr>
          <a:xfrm>
            <a:off x="2675166" y="5668411"/>
            <a:ext cx="166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Financial fraud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C44286-EF8F-212F-049B-588841D16CFF}"/>
              </a:ext>
            </a:extLst>
          </p:cNvPr>
          <p:cNvSpPr txBox="1"/>
          <p:nvPr/>
        </p:nvSpPr>
        <p:spPr>
          <a:xfrm>
            <a:off x="4864188" y="5539283"/>
            <a:ext cx="1853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Asset Misappropriation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73152" cy="6217920"/>
          </a:xfrm>
          <a:prstGeom prst="rect">
            <a:avLst/>
          </a:prstGeom>
          <a:solidFill>
            <a:srgbClr val="8B0C1E"/>
          </a:solidFill>
          <a:ln w="12700">
            <a:solidFill>
              <a:srgbClr val="8B0C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Problem of the study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47120" y="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" y="6492240"/>
            <a:ext cx="12088368" cy="27432"/>
          </a:xfrm>
          <a:prstGeom prst="rect">
            <a:avLst/>
          </a:prstGeom>
          <a:solidFill>
            <a:srgbClr val="E8E8EC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19672"/>
            <a:ext cx="1179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804672"/>
            <a:ext cx="11795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804672"/>
            <a:ext cx="658368" cy="749808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804672"/>
            <a:ext cx="6583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96926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/>
              <a:t>Financial fraud remains a major risk in the organization.</a:t>
            </a:r>
          </a:p>
        </p:txBody>
      </p:sp>
      <p:sp>
        <p:nvSpPr>
          <p:cNvPr id="12" name="Shape 10"/>
          <p:cNvSpPr/>
          <p:nvPr/>
        </p:nvSpPr>
        <p:spPr>
          <a:xfrm>
            <a:off x="182880" y="1691640"/>
            <a:ext cx="11795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1691640"/>
            <a:ext cx="658368" cy="749808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691640"/>
            <a:ext cx="6583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85623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/>
              <a:t>Existing fraud detection systems may not be fully effective. </a:t>
            </a:r>
          </a:p>
        </p:txBody>
      </p:sp>
      <p:sp>
        <p:nvSpPr>
          <p:cNvPr id="16" name="Shape 14"/>
          <p:cNvSpPr/>
          <p:nvPr/>
        </p:nvSpPr>
        <p:spPr>
          <a:xfrm>
            <a:off x="182880" y="2578608"/>
            <a:ext cx="11795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2578608"/>
            <a:ext cx="658368" cy="749808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578608"/>
            <a:ext cx="6583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274320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cs typeface="Calibri" pitchFamily="34" charset="-120"/>
              </a:rPr>
              <a:t>High-risk financial areas may not be properly monitored. 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82880" y="3465576"/>
            <a:ext cx="11795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3465576"/>
            <a:ext cx="658368" cy="749808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3465576"/>
            <a:ext cx="6583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60120" y="36301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cs typeface="Calibri" pitchFamily="34" charset="-120"/>
              </a:rPr>
              <a:t>Employee awareness and ethical practices need evaluation.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2880" y="4352544"/>
            <a:ext cx="11795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4352544"/>
            <a:ext cx="658368" cy="749808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352544"/>
            <a:ext cx="6583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60120" y="451713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methods may fail to detect complex fraud patterns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2880" y="5239512"/>
            <a:ext cx="11795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5239512"/>
            <a:ext cx="658368" cy="749808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5239512"/>
            <a:ext cx="6583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60120" y="540410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identify weaknesses and improve fraud detection practices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3B6B2-BD0E-E611-B0D3-27244E8E9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8C3DB6-FD2B-873B-E06F-6EC76B7CA7D9}"/>
              </a:ext>
            </a:extLst>
          </p:cNvPr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7BBAE6D-5590-7B72-73A1-CAB4507FD860}"/>
              </a:ext>
            </a:extLst>
          </p:cNvPr>
          <p:cNvSpPr/>
          <p:nvPr/>
        </p:nvSpPr>
        <p:spPr>
          <a:xfrm>
            <a:off x="0" y="640080"/>
            <a:ext cx="73152" cy="6217920"/>
          </a:xfrm>
          <a:prstGeom prst="rect">
            <a:avLst/>
          </a:prstGeom>
          <a:solidFill>
            <a:srgbClr val="8B0C1E"/>
          </a:solidFill>
          <a:ln w="12700">
            <a:solidFill>
              <a:srgbClr val="8B0C1E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951E7E9-A542-0330-52F8-3079FAD803D5}"/>
              </a:ext>
            </a:extLst>
          </p:cNvPr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Need  of the study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D66A370-E399-F81F-0B3C-AEE7E4277617}"/>
              </a:ext>
            </a:extLst>
          </p:cNvPr>
          <p:cNvSpPr/>
          <p:nvPr/>
        </p:nvSpPr>
        <p:spPr>
          <a:xfrm>
            <a:off x="11247120" y="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F45A011-ECF4-F0CF-4F42-E82036F538EC}"/>
              </a:ext>
            </a:extLst>
          </p:cNvPr>
          <p:cNvSpPr/>
          <p:nvPr/>
        </p:nvSpPr>
        <p:spPr>
          <a:xfrm>
            <a:off x="73152" y="6492240"/>
            <a:ext cx="12088368" cy="27432"/>
          </a:xfrm>
          <a:prstGeom prst="rect">
            <a:avLst/>
          </a:prstGeom>
          <a:solidFill>
            <a:srgbClr val="E8E8EC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2D8A7B7-983E-360D-09B0-09C24EE88E33}"/>
              </a:ext>
            </a:extLst>
          </p:cNvPr>
          <p:cNvSpPr/>
          <p:nvPr/>
        </p:nvSpPr>
        <p:spPr>
          <a:xfrm>
            <a:off x="182880" y="6519672"/>
            <a:ext cx="1179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A4ED594-5F1D-ED6C-5E4E-A5CF3BEC5D1D}"/>
              </a:ext>
            </a:extLst>
          </p:cNvPr>
          <p:cNvSpPr/>
          <p:nvPr/>
        </p:nvSpPr>
        <p:spPr>
          <a:xfrm>
            <a:off x="182880" y="804672"/>
            <a:ext cx="11795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346E180-CE14-877A-3A04-AEF03E654B97}"/>
              </a:ext>
            </a:extLst>
          </p:cNvPr>
          <p:cNvSpPr/>
          <p:nvPr/>
        </p:nvSpPr>
        <p:spPr>
          <a:xfrm>
            <a:off x="182880" y="804672"/>
            <a:ext cx="658368" cy="749808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FF35560-700A-90F0-6CD2-ECD2B6B1E8CB}"/>
              </a:ext>
            </a:extLst>
          </p:cNvPr>
          <p:cNvSpPr/>
          <p:nvPr/>
        </p:nvSpPr>
        <p:spPr>
          <a:xfrm>
            <a:off x="182880" y="804672"/>
            <a:ext cx="6583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B50CE2C-AB54-B490-C3B5-6003FD635932}"/>
              </a:ext>
            </a:extLst>
          </p:cNvPr>
          <p:cNvSpPr/>
          <p:nvPr/>
        </p:nvSpPr>
        <p:spPr>
          <a:xfrm>
            <a:off x="960120" y="96926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/>
              <a:t>To identify financial fraud risks within the organization.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16EE608-A582-3CAE-1448-6164C48EC783}"/>
              </a:ext>
            </a:extLst>
          </p:cNvPr>
          <p:cNvSpPr/>
          <p:nvPr/>
        </p:nvSpPr>
        <p:spPr>
          <a:xfrm>
            <a:off x="182880" y="1691640"/>
            <a:ext cx="11795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0788D6B-408E-565A-13C8-CDD733C4B26E}"/>
              </a:ext>
            </a:extLst>
          </p:cNvPr>
          <p:cNvSpPr/>
          <p:nvPr/>
        </p:nvSpPr>
        <p:spPr>
          <a:xfrm>
            <a:off x="182880" y="1691640"/>
            <a:ext cx="658368" cy="749808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0F9348E-8E52-B3D1-354E-1FD072E18326}"/>
              </a:ext>
            </a:extLst>
          </p:cNvPr>
          <p:cNvSpPr/>
          <p:nvPr/>
        </p:nvSpPr>
        <p:spPr>
          <a:xfrm>
            <a:off x="182880" y="1691640"/>
            <a:ext cx="6583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D9611FC-FCB5-90BF-1D95-B9357C409CEE}"/>
              </a:ext>
            </a:extLst>
          </p:cNvPr>
          <p:cNvSpPr/>
          <p:nvPr/>
        </p:nvSpPr>
        <p:spPr>
          <a:xfrm>
            <a:off x="960120" y="185623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/>
              <a:t>To evaluate the effectiveness of existing fraud detection systems. 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99A8FF3-BA79-0704-C74D-9564E113B7AC}"/>
              </a:ext>
            </a:extLst>
          </p:cNvPr>
          <p:cNvSpPr/>
          <p:nvPr/>
        </p:nvSpPr>
        <p:spPr>
          <a:xfrm>
            <a:off x="182880" y="2578608"/>
            <a:ext cx="11795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D31EDF0-E3D5-953A-BE70-EE069D4B2127}"/>
              </a:ext>
            </a:extLst>
          </p:cNvPr>
          <p:cNvSpPr/>
          <p:nvPr/>
        </p:nvSpPr>
        <p:spPr>
          <a:xfrm>
            <a:off x="182880" y="2578608"/>
            <a:ext cx="658368" cy="749808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CDBF50F-15C1-A7B7-0306-3F8A45DBE890}"/>
              </a:ext>
            </a:extLst>
          </p:cNvPr>
          <p:cNvSpPr/>
          <p:nvPr/>
        </p:nvSpPr>
        <p:spPr>
          <a:xfrm>
            <a:off x="182880" y="2578608"/>
            <a:ext cx="6583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D7E7A55-A4C1-ED9C-7264-63C2AFBFFE97}"/>
              </a:ext>
            </a:extLst>
          </p:cNvPr>
          <p:cNvSpPr/>
          <p:nvPr/>
        </p:nvSpPr>
        <p:spPr>
          <a:xfrm>
            <a:off x="960120" y="274320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cs typeface="Calibri" pitchFamily="34" charset="-120"/>
              </a:rPr>
              <a:t>To assess internal controls and audit procedures. </a:t>
            </a:r>
            <a:endParaRPr lang="en-US" sz="2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75B55A7-B1AE-D0B0-A255-053D24CA4FDD}"/>
              </a:ext>
            </a:extLst>
          </p:cNvPr>
          <p:cNvSpPr/>
          <p:nvPr/>
        </p:nvSpPr>
        <p:spPr>
          <a:xfrm>
            <a:off x="182880" y="3465576"/>
            <a:ext cx="11795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73E83B2-F9F2-1362-8F06-FCEBABCB819B}"/>
              </a:ext>
            </a:extLst>
          </p:cNvPr>
          <p:cNvSpPr/>
          <p:nvPr/>
        </p:nvSpPr>
        <p:spPr>
          <a:xfrm>
            <a:off x="182880" y="3465576"/>
            <a:ext cx="658368" cy="749808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1B22CC0-C107-47BC-E74B-710119E6B4AD}"/>
              </a:ext>
            </a:extLst>
          </p:cNvPr>
          <p:cNvSpPr/>
          <p:nvPr/>
        </p:nvSpPr>
        <p:spPr>
          <a:xfrm>
            <a:off x="182880" y="3465576"/>
            <a:ext cx="6583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72FE3AA-F657-B5F6-8619-633C666D3BC2}"/>
              </a:ext>
            </a:extLst>
          </p:cNvPr>
          <p:cNvSpPr/>
          <p:nvPr/>
        </p:nvSpPr>
        <p:spPr>
          <a:xfrm>
            <a:off x="950976" y="369417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require advanced fraud detection systems to protect assets &amp; maintain stakeholder trust.</a:t>
            </a:r>
            <a:endParaRPr lang="en-US" sz="20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1ACEF75-300D-FC9D-4DC4-86722CC10E30}"/>
              </a:ext>
            </a:extLst>
          </p:cNvPr>
          <p:cNvSpPr/>
          <p:nvPr/>
        </p:nvSpPr>
        <p:spPr>
          <a:xfrm>
            <a:off x="182880" y="4352544"/>
            <a:ext cx="11795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EDCA6BC-B039-C6C2-2864-DA81058201BE}"/>
              </a:ext>
            </a:extLst>
          </p:cNvPr>
          <p:cNvSpPr/>
          <p:nvPr/>
        </p:nvSpPr>
        <p:spPr>
          <a:xfrm>
            <a:off x="182880" y="4352544"/>
            <a:ext cx="658368" cy="749808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2F3B3A6-E419-0ED5-4C79-4B6C382B1F4B}"/>
              </a:ext>
            </a:extLst>
          </p:cNvPr>
          <p:cNvSpPr/>
          <p:nvPr/>
        </p:nvSpPr>
        <p:spPr>
          <a:xfrm>
            <a:off x="182880" y="4352544"/>
            <a:ext cx="6583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16498D6-9AF5-46CB-8846-CF3467EB0E40}"/>
              </a:ext>
            </a:extLst>
          </p:cNvPr>
          <p:cNvSpPr/>
          <p:nvPr/>
        </p:nvSpPr>
        <p:spPr>
          <a:xfrm>
            <a:off x="960120" y="451713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 transparency and accountability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2998ED79-FD4B-F465-0092-C044C2F46B54}"/>
              </a:ext>
            </a:extLst>
          </p:cNvPr>
          <p:cNvSpPr/>
          <p:nvPr/>
        </p:nvSpPr>
        <p:spPr>
          <a:xfrm>
            <a:off x="182880" y="5239512"/>
            <a:ext cx="11795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172A38FD-8940-7A96-85B1-89B59EF1C4F1}"/>
              </a:ext>
            </a:extLst>
          </p:cNvPr>
          <p:cNvSpPr/>
          <p:nvPr/>
        </p:nvSpPr>
        <p:spPr>
          <a:xfrm>
            <a:off x="182880" y="5239512"/>
            <a:ext cx="658368" cy="749808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5FFC5C7-1D1A-D95A-044E-4F5C7429C88C}"/>
              </a:ext>
            </a:extLst>
          </p:cNvPr>
          <p:cNvSpPr/>
          <p:nvPr/>
        </p:nvSpPr>
        <p:spPr>
          <a:xfrm>
            <a:off x="182880" y="5239512"/>
            <a:ext cx="6583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77FF398-5236-AFEB-1592-CD9BBB87C7F6}"/>
              </a:ext>
            </a:extLst>
          </p:cNvPr>
          <p:cNvSpPr/>
          <p:nvPr/>
        </p:nvSpPr>
        <p:spPr>
          <a:xfrm>
            <a:off x="960120" y="540410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strengthen fraud prevention and detection practices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48235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73152" cy="6217920"/>
          </a:xfrm>
          <a:prstGeom prst="rect">
            <a:avLst/>
          </a:prstGeom>
          <a:solidFill>
            <a:srgbClr val="8B0C1E"/>
          </a:solidFill>
          <a:ln w="12700">
            <a:solidFill>
              <a:srgbClr val="8B0C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Study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247120" y="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" y="6492240"/>
            <a:ext cx="12088368" cy="27432"/>
          </a:xfrm>
          <a:prstGeom prst="rect">
            <a:avLst/>
          </a:prstGeom>
          <a:solidFill>
            <a:srgbClr val="E8E8EC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19672"/>
            <a:ext cx="1179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777240"/>
            <a:ext cx="1179576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777240"/>
            <a:ext cx="109728" cy="7772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50392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804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107899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analyze the effectiveness of financial fraud detection practices at Kolon Industries India Pvt. Ltd., Thiruvallur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8288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OBJECTIVES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182880" y="2011680"/>
            <a:ext cx="11795760" cy="36576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82880" y="2176272"/>
            <a:ext cx="5760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82880" y="2176272"/>
            <a:ext cx="566928" cy="1188720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82880" y="2176272"/>
            <a:ext cx="5669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41248" y="2377440"/>
            <a:ext cx="5010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/>
              <a:t>Examine procurement fraud controls.</a:t>
            </a:r>
          </a:p>
        </p:txBody>
      </p:sp>
      <p:sp>
        <p:nvSpPr>
          <p:cNvPr id="19" name="Shape 16"/>
          <p:cNvSpPr/>
          <p:nvPr/>
        </p:nvSpPr>
        <p:spPr>
          <a:xfrm>
            <a:off x="6217920" y="2176272"/>
            <a:ext cx="5760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2176272"/>
            <a:ext cx="566928" cy="1188720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0" y="2176272"/>
            <a:ext cx="5669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876288" y="2377440"/>
            <a:ext cx="5010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inventory fraud detection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182880" y="3547872"/>
            <a:ext cx="5760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182880" y="3547872"/>
            <a:ext cx="566928" cy="1188720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82880" y="3547872"/>
            <a:ext cx="5669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841248" y="3749040"/>
            <a:ext cx="5010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cs typeface="Calibri" pitchFamily="34" charset="-120"/>
              </a:rPr>
              <a:t>Evaluate payroll fraud prevention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217920" y="3547872"/>
            <a:ext cx="5760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217920" y="3547872"/>
            <a:ext cx="566928" cy="1188720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17920" y="3547872"/>
            <a:ext cx="5669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6876288" y="3749040"/>
            <a:ext cx="5010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expense reimbursement monitoring.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182880" y="4919472"/>
            <a:ext cx="5760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182880" y="4919472"/>
            <a:ext cx="566928" cy="1188720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82880" y="4919472"/>
            <a:ext cx="5669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41248" y="5120640"/>
            <a:ext cx="5010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financial statement fraud detection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217920" y="4919472"/>
            <a:ext cx="5760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217920" y="4919472"/>
            <a:ext cx="566928" cy="1188720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17920" y="4919472"/>
            <a:ext cx="5669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6876288" y="5120640"/>
            <a:ext cx="5010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asset misuse control 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73152" cy="6217920"/>
          </a:xfrm>
          <a:prstGeom prst="rect">
            <a:avLst/>
          </a:prstGeom>
          <a:solidFill>
            <a:srgbClr val="8B0C1E"/>
          </a:solidFill>
          <a:ln w="12700">
            <a:solidFill>
              <a:srgbClr val="8B0C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Literature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247120" y="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" y="6492240"/>
            <a:ext cx="12088368" cy="27432"/>
          </a:xfrm>
          <a:prstGeom prst="rect">
            <a:avLst/>
          </a:prstGeom>
          <a:solidFill>
            <a:srgbClr val="E8E8EC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19672"/>
            <a:ext cx="1179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37160" y="804672"/>
            <a:ext cx="11841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" y="804672"/>
            <a:ext cx="502920" cy="960120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" y="804672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914400"/>
            <a:ext cx="228600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9144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Ngai et al. (2021)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154680" y="87782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 Fraud Detection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154680" y="1188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trees, neural networks &amp; SVM achieve 92%+ accuracy in detecting anomalous financial transactions</a:t>
            </a:r>
            <a:r>
              <a:rPr lang="en-US" sz="9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37160" y="1883664"/>
            <a:ext cx="11841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" y="1883664"/>
            <a:ext cx="502920" cy="960120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" y="1883664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1993392"/>
            <a:ext cx="228600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19933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Bhargava &amp; Singh (2022)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154680" y="1956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 Analytics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54680" y="226771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models significantly reduce false positives in fraud detection compared to rule-based systems</a:t>
            </a:r>
            <a:r>
              <a:rPr lang="en-US" sz="9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37160" y="2962656"/>
            <a:ext cx="11841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37160" y="2962656"/>
            <a:ext cx="502920" cy="960120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" y="2962656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31520" y="3072384"/>
            <a:ext cx="228600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0723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(2020)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54680" y="3035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Auditing Techniques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54680" y="334670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Occupational fraud costs organizations 5% of annual revenue; asset misappropriation is most common at 86% of cases.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37160" y="4041648"/>
            <a:ext cx="11841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37160" y="4041648"/>
            <a:ext cx="502920" cy="960120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" y="4041648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31520" y="4151376"/>
            <a:ext cx="228600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41513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COSO Framework (2023)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154680" y="41148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Control Systems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154680" y="442569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and monitoring activities are the two weakest COSO components in manufacturing firms</a:t>
            </a:r>
            <a:r>
              <a:rPr lang="en-US" sz="9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37160" y="5120640"/>
            <a:ext cx="11841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37160" y="5120640"/>
            <a:ext cx="502920" cy="960120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7160" y="512064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731520" y="5230368"/>
            <a:ext cx="228600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2303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Report (2023)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154680" y="5193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Fraud Detection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154680" y="550468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auditing tools and real-time data analytics reduce fraud detection time from 18 months to under 6 months</a:t>
            </a:r>
            <a:r>
              <a:rPr lang="en-US" sz="9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73152" cy="6217920"/>
          </a:xfrm>
          <a:prstGeom prst="rect">
            <a:avLst/>
          </a:prstGeom>
          <a:solidFill>
            <a:srgbClr val="8B0C1E"/>
          </a:solidFill>
          <a:ln w="12700">
            <a:solidFill>
              <a:srgbClr val="8B0C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 – Kolon Industries India Pvt. Ltd.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247120" y="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" y="6492240"/>
            <a:ext cx="12088368" cy="27432"/>
          </a:xfrm>
          <a:prstGeom prst="rect">
            <a:avLst/>
          </a:prstGeom>
          <a:solidFill>
            <a:srgbClr val="E8E8EC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19672"/>
            <a:ext cx="1179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37160" y="777240"/>
            <a:ext cx="4754880" cy="5577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777240"/>
            <a:ext cx="4754880" cy="73152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960120"/>
            <a:ext cx="2011680" cy="20116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31089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KOLON INDUSTRIES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74320" y="349300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PVT. LTD.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28600" y="3977640"/>
            <a:ext cx="4526280" cy="402336"/>
          </a:xfrm>
          <a:prstGeom prst="rect">
            <a:avLst/>
          </a:prstGeom>
          <a:solidFill>
            <a:srgbClr val="22223A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402336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 Thiruvallur, Tamil Nadu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28600" y="4453128"/>
            <a:ext cx="4526280" cy="402336"/>
          </a:xfrm>
          <a:prstGeom prst="rect">
            <a:avLst/>
          </a:prstGeom>
          <a:solidFill>
            <a:srgbClr val="22223A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449884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Co.:  Kolon Industries, South Korea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28600" y="4928616"/>
            <a:ext cx="4526280" cy="402336"/>
          </a:xfrm>
          <a:prstGeom prst="rect">
            <a:avLst/>
          </a:prstGeom>
          <a:solidFill>
            <a:srgbClr val="22223A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4974336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 In  India :  2017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28600" y="5404104"/>
            <a:ext cx="4526280" cy="402336"/>
          </a:xfrm>
          <a:prstGeom prst="rect">
            <a:avLst/>
          </a:prstGeom>
          <a:solidFill>
            <a:srgbClr val="22223A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" y="544982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 Automotive Components Manufacturing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120640" y="80467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120640" y="1234440"/>
            <a:ext cx="6858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120640" y="1234440"/>
            <a:ext cx="54864" cy="566928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66944" y="1383170"/>
            <a:ext cx="6620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Business activity:</a:t>
            </a:r>
            <a:r>
              <a:rPr lang="en-US" sz="1100" dirty="0">
                <a:latin typeface="Calibri" pitchFamily="34" charset="0"/>
                <a:cs typeface="Calibri" pitchFamily="34" charset="-120"/>
              </a:rPr>
              <a:t> </a:t>
            </a:r>
            <a:r>
              <a:rPr lang="en-US" sz="1400" dirty="0">
                <a:latin typeface="Calibri" pitchFamily="34" charset="0"/>
                <a:cs typeface="Calibri" pitchFamily="34" charset="-120"/>
              </a:rPr>
              <a:t>Manufactures automotive seat covers and interior components for automobiles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266944" y="1508760"/>
            <a:ext cx="6620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120640" y="1892808"/>
            <a:ext cx="6858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120640" y="1892808"/>
            <a:ext cx="54864" cy="566928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266944" y="2034540"/>
            <a:ext cx="6620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Key Customers: </a:t>
            </a:r>
            <a:r>
              <a:rPr lang="en-US" sz="1400" dirty="0">
                <a:latin typeface="Calibri" pitchFamily="34" charset="0"/>
                <a:cs typeface="Calibri" pitchFamily="34" charset="-120"/>
              </a:rPr>
              <a:t>Major automobile  manufactures in India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266944" y="2167128"/>
            <a:ext cx="6620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120640" y="2551176"/>
            <a:ext cx="6858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120640" y="2551176"/>
            <a:ext cx="54864" cy="566928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266944" y="2692908"/>
            <a:ext cx="6620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Focus Areas:  </a:t>
            </a:r>
            <a:r>
              <a:rPr lang="en-US" sz="1400" dirty="0">
                <a:latin typeface="Calibri" pitchFamily="34" charset="0"/>
                <a:cs typeface="Calibri" pitchFamily="34" charset="-120"/>
              </a:rPr>
              <a:t>Quality, Innovation, Customer Satisfaction, and operational Excellence.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266944" y="2825496"/>
            <a:ext cx="6620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120640" y="3209544"/>
            <a:ext cx="6858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120640" y="3209544"/>
            <a:ext cx="54864" cy="566928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266944" y="3395690"/>
            <a:ext cx="6620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Mission: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To provide high-quality automotive interior products with advanced technology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266944" y="3483864"/>
            <a:ext cx="6620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5120640" y="3867912"/>
            <a:ext cx="6858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120640" y="3867912"/>
            <a:ext cx="54864" cy="566928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251704" y="4018695"/>
            <a:ext cx="6620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Vision: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To become a leading global supplier of automotive materials and components.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5266944" y="4142232"/>
            <a:ext cx="6620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5120640" y="4526280"/>
            <a:ext cx="6858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120640" y="4526280"/>
            <a:ext cx="54864" cy="566928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239512" y="4672957"/>
            <a:ext cx="6620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Organization Structure :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Hierarchical organization structure.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5266944" y="4800600"/>
            <a:ext cx="6620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5120640" y="5212080"/>
            <a:ext cx="6858000" cy="868680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212080" y="523951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cs typeface="Calibri" pitchFamily="34" charset="-120"/>
              </a:rPr>
              <a:t>Customers: 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5212080" y="5522976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Hyundai Motor India, Tata motors, Toyota Kirloskar motors, kia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india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14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941C8F7B-2B6C-04CE-A28B-C7FC6472DB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458" y="1089660"/>
            <a:ext cx="2556588" cy="1859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B8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36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Profile</a:t>
            </a:r>
            <a:endParaRPr lang="en-US" sz="2933" dirty="0"/>
          </a:p>
        </p:txBody>
      </p:sp>
      <p:sp>
        <p:nvSpPr>
          <p:cNvPr id="4" name="Text 2"/>
          <p:cNvSpPr/>
          <p:nvPr/>
        </p:nvSpPr>
        <p:spPr>
          <a:xfrm>
            <a:off x="365760" y="950976"/>
            <a:ext cx="114604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67" dirty="0"/>
          </a:p>
        </p:txBody>
      </p:sp>
      <p:sp>
        <p:nvSpPr>
          <p:cNvPr id="5" name="Shape 3"/>
          <p:cNvSpPr/>
          <p:nvPr/>
        </p:nvSpPr>
        <p:spPr>
          <a:xfrm>
            <a:off x="365760" y="1365504"/>
            <a:ext cx="11460480" cy="755904"/>
          </a:xfrm>
          <a:prstGeom prst="rect">
            <a:avLst/>
          </a:prstGeom>
          <a:solidFill>
            <a:srgbClr val="B8000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89888"/>
            <a:ext cx="11094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 seat manufacturing industry is a critical segment of the global automotive component sector, supplying seating systems for passenger, commercial, and electric vehicles.</a:t>
            </a:r>
            <a:endParaRPr lang="en-US" sz="1333" dirty="0"/>
          </a:p>
        </p:txBody>
      </p:sp>
      <p:sp>
        <p:nvSpPr>
          <p:cNvPr id="7" name="Shape 5"/>
          <p:cNvSpPr/>
          <p:nvPr/>
        </p:nvSpPr>
        <p:spPr>
          <a:xfrm>
            <a:off x="365760" y="2292096"/>
            <a:ext cx="3535680" cy="173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292096"/>
            <a:ext cx="3535680" cy="390144"/>
          </a:xfrm>
          <a:prstGeom prst="rect">
            <a:avLst/>
          </a:prstGeom>
          <a:solidFill>
            <a:srgbClr val="B80000"/>
          </a:solidFill>
          <a:ln/>
        </p:spPr>
      </p:sp>
      <p:sp>
        <p:nvSpPr>
          <p:cNvPr id="9" name="Text 7"/>
          <p:cNvSpPr/>
          <p:nvPr/>
        </p:nvSpPr>
        <p:spPr>
          <a:xfrm>
            <a:off x="487680" y="2292096"/>
            <a:ext cx="3291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Global Leaders</a:t>
            </a:r>
            <a:endParaRPr lang="en-US" sz="1267" dirty="0"/>
          </a:p>
        </p:txBody>
      </p:sp>
      <p:sp>
        <p:nvSpPr>
          <p:cNvPr id="10" name="Text 8"/>
          <p:cNvSpPr/>
          <p:nvPr/>
        </p:nvSpPr>
        <p:spPr>
          <a:xfrm>
            <a:off x="487680" y="2731008"/>
            <a:ext cx="329184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Lear Corporation, Adient plc &amp; Faurecia SE dominate the international automotive seating market.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30624" y="2292096"/>
            <a:ext cx="3535680" cy="173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30624" y="2292096"/>
            <a:ext cx="3535680" cy="390144"/>
          </a:xfrm>
          <a:prstGeom prst="rect">
            <a:avLst/>
          </a:prstGeom>
          <a:solidFill>
            <a:srgbClr val="B8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352544" y="2292096"/>
            <a:ext cx="3291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🪑  Product Range</a:t>
            </a:r>
            <a:endParaRPr lang="en-US" sz="1267" dirty="0"/>
          </a:p>
        </p:txBody>
      </p:sp>
      <p:sp>
        <p:nvSpPr>
          <p:cNvPr id="14" name="Text 12"/>
          <p:cNvSpPr/>
          <p:nvPr/>
        </p:nvSpPr>
        <p:spPr>
          <a:xfrm>
            <a:off x="4352544" y="2731008"/>
            <a:ext cx="329184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frames, foam cushions, headrests, airbag fabrics, electronic adjustment systems &amp; smart sensors.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95488" y="2292096"/>
            <a:ext cx="3535680" cy="173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95488" y="2292096"/>
            <a:ext cx="3535680" cy="390144"/>
          </a:xfrm>
          <a:prstGeom prst="rect">
            <a:avLst/>
          </a:prstGeom>
          <a:solidFill>
            <a:srgbClr val="B8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217408" y="2292096"/>
            <a:ext cx="3291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EV Transformation</a:t>
            </a:r>
            <a:endParaRPr lang="en-US" sz="1267" dirty="0"/>
          </a:p>
        </p:txBody>
      </p:sp>
      <p:sp>
        <p:nvSpPr>
          <p:cNvPr id="18" name="Text 16"/>
          <p:cNvSpPr/>
          <p:nvPr/>
        </p:nvSpPr>
        <p:spPr>
          <a:xfrm>
            <a:off x="8217408" y="2731008"/>
            <a:ext cx="329184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materials, eco-friendly fabrics &amp; smart seating for electric &amp; autonomous vehicles.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4242816"/>
            <a:ext cx="3535680" cy="173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4242816"/>
            <a:ext cx="3535680" cy="39014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87680" y="4242816"/>
            <a:ext cx="3291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 India Market</a:t>
            </a:r>
            <a:endParaRPr lang="en-US" sz="1267" dirty="0"/>
          </a:p>
        </p:txBody>
      </p:sp>
      <p:sp>
        <p:nvSpPr>
          <p:cNvPr id="22" name="Text 20"/>
          <p:cNvSpPr/>
          <p:nvPr/>
        </p:nvSpPr>
        <p:spPr>
          <a:xfrm>
            <a:off x="487680" y="4681728"/>
            <a:ext cx="329184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fastest-growing manufacturing sectors, supported by 'Make in India' initiative.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30624" y="4242816"/>
            <a:ext cx="3535680" cy="173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30624" y="4242816"/>
            <a:ext cx="3535680" cy="39014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4352544" y="4242816"/>
            <a:ext cx="3291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Technology</a:t>
            </a:r>
            <a:endParaRPr lang="en-US" sz="1267" dirty="0"/>
          </a:p>
        </p:txBody>
      </p:sp>
      <p:sp>
        <p:nvSpPr>
          <p:cNvPr id="26" name="Text 24"/>
          <p:cNvSpPr/>
          <p:nvPr/>
        </p:nvSpPr>
        <p:spPr>
          <a:xfrm>
            <a:off x="4352544" y="4681728"/>
            <a:ext cx="329184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Automation, digital manufacturing, strict quality control systems driving industry innovation.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095488" y="4326792"/>
            <a:ext cx="3535680" cy="173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95488" y="4242816"/>
            <a:ext cx="3535680" cy="39014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8217408" y="4242816"/>
            <a:ext cx="3291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Kolon's Role</a:t>
            </a:r>
            <a:endParaRPr lang="en-US" sz="1267" dirty="0"/>
          </a:p>
        </p:txBody>
      </p:sp>
      <p:sp>
        <p:nvSpPr>
          <p:cNvPr id="30" name="Text 28"/>
          <p:cNvSpPr/>
          <p:nvPr/>
        </p:nvSpPr>
        <p:spPr>
          <a:xfrm>
            <a:off x="8217408" y="4681728"/>
            <a:ext cx="329184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Kolon India strengthens the auto supply chain by introducing advanced tech &amp; creating employment</a:t>
            </a: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B8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36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2933" dirty="0"/>
          </a:p>
        </p:txBody>
      </p:sp>
      <p:sp>
        <p:nvSpPr>
          <p:cNvPr id="4" name="Text 2"/>
          <p:cNvSpPr/>
          <p:nvPr/>
        </p:nvSpPr>
        <p:spPr>
          <a:xfrm>
            <a:off x="365760" y="950976"/>
            <a:ext cx="114604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67" dirty="0"/>
          </a:p>
        </p:txBody>
      </p:sp>
      <p:sp>
        <p:nvSpPr>
          <p:cNvPr id="5" name="Shape 3"/>
          <p:cNvSpPr/>
          <p:nvPr/>
        </p:nvSpPr>
        <p:spPr>
          <a:xfrm>
            <a:off x="408432" y="1316736"/>
            <a:ext cx="2706624" cy="1036320"/>
          </a:xfrm>
          <a:prstGeom prst="rect">
            <a:avLst/>
          </a:prstGeom>
          <a:solidFill>
            <a:srgbClr val="B8000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63296" y="1377696"/>
            <a:ext cx="2511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3296" y="1786128"/>
            <a:ext cx="2511552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Research</a:t>
            </a:r>
            <a:endParaRPr lang="en-US" sz="1600" dirty="0"/>
          </a:p>
          <a:p>
            <a:endParaRPr lang="en-US" sz="1267" dirty="0"/>
          </a:p>
        </p:txBody>
      </p:sp>
      <p:sp>
        <p:nvSpPr>
          <p:cNvPr id="8" name="Shape 6"/>
          <p:cNvSpPr/>
          <p:nvPr/>
        </p:nvSpPr>
        <p:spPr>
          <a:xfrm>
            <a:off x="3267456" y="1341120"/>
            <a:ext cx="2706624" cy="1036320"/>
          </a:xfrm>
          <a:prstGeom prst="rect">
            <a:avLst/>
          </a:prstGeom>
          <a:solidFill>
            <a:srgbClr val="B8000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64992" y="1377696"/>
            <a:ext cx="2511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Area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64992" y="1682496"/>
            <a:ext cx="2511552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Kolon Industries India Pvt. Ltd.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Tiruvallur, Tamil Nadu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69152" y="1341120"/>
            <a:ext cx="2706624" cy="1036320"/>
          </a:xfrm>
          <a:prstGeom prst="rect">
            <a:avLst/>
          </a:prstGeom>
          <a:solidFill>
            <a:srgbClr val="B8000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6688" y="1377696"/>
            <a:ext cx="2511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Technique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6688" y="1792348"/>
            <a:ext cx="2511552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</a:t>
            </a:r>
            <a:endParaRPr lang="en-US" sz="1267" dirty="0"/>
          </a:p>
          <a:p>
            <a:r>
              <a:rPr lang="en-US" sz="1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endParaRPr lang="en-US" sz="1267" dirty="0"/>
          </a:p>
        </p:txBody>
      </p:sp>
      <p:sp>
        <p:nvSpPr>
          <p:cNvPr id="14" name="Shape 12"/>
          <p:cNvSpPr/>
          <p:nvPr/>
        </p:nvSpPr>
        <p:spPr>
          <a:xfrm>
            <a:off x="9070848" y="1341120"/>
            <a:ext cx="2706624" cy="1036320"/>
          </a:xfrm>
          <a:prstGeom prst="rect">
            <a:avLst/>
          </a:prstGeom>
          <a:solidFill>
            <a:srgbClr val="B8000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68384" y="1377696"/>
            <a:ext cx="2511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</a:t>
            </a:r>
            <a:endParaRPr lang="en-US" sz="1133" dirty="0"/>
          </a:p>
        </p:txBody>
      </p:sp>
      <p:sp>
        <p:nvSpPr>
          <p:cNvPr id="16" name="Text 14"/>
          <p:cNvSpPr/>
          <p:nvPr/>
        </p:nvSpPr>
        <p:spPr>
          <a:xfrm>
            <a:off x="9168384" y="1682496"/>
            <a:ext cx="2511552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Respondents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Population: 250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2511552"/>
            <a:ext cx="554736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3296" y="2548128"/>
            <a:ext cx="524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3296" y="2901696"/>
            <a:ext cx="60960" cy="19507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09600" y="2877312"/>
            <a:ext cx="5181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Structured questionnaire (Google Forms) 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3296" y="3169920"/>
            <a:ext cx="60960" cy="19507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3267456"/>
            <a:ext cx="5181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Books, journals, company reports, websites on fraud detection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9600" y="3413760"/>
            <a:ext cx="5181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73" dirty="0"/>
          </a:p>
        </p:txBody>
      </p:sp>
      <p:sp>
        <p:nvSpPr>
          <p:cNvPr id="25" name="Shape 23"/>
          <p:cNvSpPr/>
          <p:nvPr/>
        </p:nvSpPr>
        <p:spPr>
          <a:xfrm>
            <a:off x="6217920" y="2548252"/>
            <a:ext cx="554736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76416" y="2548128"/>
            <a:ext cx="524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76416" y="2877312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There is no significant relationship between internal control systems and financial fraud detection practices in Kolon Industries India Pvt. Ltd.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76416" y="33406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There is a significant relationship between internal control systems and financial fraud detection practices.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3877056"/>
            <a:ext cx="114604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B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TOOLS USED FOR ANALYSIS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267200"/>
            <a:ext cx="1780032" cy="2218944"/>
          </a:xfrm>
          <a:prstGeom prst="rect">
            <a:avLst/>
          </a:prstGeom>
          <a:solidFill>
            <a:srgbClr val="B8000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26720" y="4328160"/>
            <a:ext cx="1658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</a:t>
            </a:r>
            <a:endParaRPr lang="en-US" sz="1333" dirty="0"/>
          </a:p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33" dirty="0"/>
          </a:p>
        </p:txBody>
      </p:sp>
      <p:sp>
        <p:nvSpPr>
          <p:cNvPr id="32" name="Shape 30"/>
          <p:cNvSpPr/>
          <p:nvPr/>
        </p:nvSpPr>
        <p:spPr>
          <a:xfrm>
            <a:off x="463296" y="5096256"/>
            <a:ext cx="1584960" cy="36576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426720" y="5169408"/>
            <a:ext cx="1658112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distribution &amp; response distribution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316480" y="4267200"/>
            <a:ext cx="1780032" cy="2218944"/>
          </a:xfrm>
          <a:prstGeom prst="rect">
            <a:avLst/>
          </a:prstGeom>
          <a:solidFill>
            <a:srgbClr val="8B000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377440" y="4328160"/>
            <a:ext cx="1658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</a:t>
            </a:r>
            <a:endParaRPr lang="en-US" sz="1333" dirty="0"/>
          </a:p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33" dirty="0"/>
          </a:p>
        </p:txBody>
      </p:sp>
      <p:sp>
        <p:nvSpPr>
          <p:cNvPr id="36" name="Shape 34"/>
          <p:cNvSpPr/>
          <p:nvPr/>
        </p:nvSpPr>
        <p:spPr>
          <a:xfrm>
            <a:off x="2414016" y="5096256"/>
            <a:ext cx="1584960" cy="36576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2377440" y="5169408"/>
            <a:ext cx="1658112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between categorical variables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267200" y="4267200"/>
            <a:ext cx="1780032" cy="2218944"/>
          </a:xfrm>
          <a:prstGeom prst="rect">
            <a:avLst/>
          </a:prstGeom>
          <a:solidFill>
            <a:srgbClr val="B8000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328160" y="4328160"/>
            <a:ext cx="1658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333" dirty="0"/>
          </a:p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33" dirty="0"/>
          </a:p>
        </p:txBody>
      </p:sp>
      <p:sp>
        <p:nvSpPr>
          <p:cNvPr id="40" name="Shape 38"/>
          <p:cNvSpPr/>
          <p:nvPr/>
        </p:nvSpPr>
        <p:spPr>
          <a:xfrm>
            <a:off x="4364736" y="5096256"/>
            <a:ext cx="1584960" cy="36576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4328160" y="5169408"/>
            <a:ext cx="1658112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&amp; direction between two variables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17920" y="4267200"/>
            <a:ext cx="1780032" cy="2218944"/>
          </a:xfrm>
          <a:prstGeom prst="rect">
            <a:avLst/>
          </a:prstGeom>
          <a:solidFill>
            <a:srgbClr val="8B000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278880" y="4328160"/>
            <a:ext cx="1658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</a:t>
            </a:r>
            <a:endParaRPr lang="en-US" sz="1333" dirty="0"/>
          </a:p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</a:t>
            </a:r>
            <a:endParaRPr lang="en-US" sz="1333" dirty="0"/>
          </a:p>
        </p:txBody>
      </p:sp>
      <p:sp>
        <p:nvSpPr>
          <p:cNvPr id="44" name="Shape 42"/>
          <p:cNvSpPr/>
          <p:nvPr/>
        </p:nvSpPr>
        <p:spPr>
          <a:xfrm>
            <a:off x="6315456" y="5096256"/>
            <a:ext cx="1584960" cy="36576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45" name="Text 43"/>
          <p:cNvSpPr/>
          <p:nvPr/>
        </p:nvSpPr>
        <p:spPr>
          <a:xfrm>
            <a:off x="6278880" y="5169408"/>
            <a:ext cx="1658112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comparison across group levels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168640" y="4267200"/>
            <a:ext cx="1780032" cy="2218944"/>
          </a:xfrm>
          <a:prstGeom prst="rect">
            <a:avLst/>
          </a:prstGeom>
          <a:solidFill>
            <a:srgbClr val="B8000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229600" y="4328160"/>
            <a:ext cx="1658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333" dirty="0"/>
          </a:p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333" dirty="0"/>
          </a:p>
        </p:txBody>
      </p:sp>
      <p:sp>
        <p:nvSpPr>
          <p:cNvPr id="48" name="Shape 46"/>
          <p:cNvSpPr/>
          <p:nvPr/>
        </p:nvSpPr>
        <p:spPr>
          <a:xfrm>
            <a:off x="8266176" y="5096256"/>
            <a:ext cx="1584960" cy="36576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8229600" y="5169408"/>
            <a:ext cx="1658112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audits on asset misappropriation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119360" y="4267200"/>
            <a:ext cx="1780032" cy="2218944"/>
          </a:xfrm>
          <a:prstGeom prst="rect">
            <a:avLst/>
          </a:prstGeom>
          <a:solidFill>
            <a:srgbClr val="8B000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10180320" y="4328160"/>
            <a:ext cx="1658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Sample</a:t>
            </a:r>
            <a:endParaRPr lang="en-US" sz="1333" dirty="0"/>
          </a:p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1333" dirty="0"/>
          </a:p>
        </p:txBody>
      </p:sp>
      <p:sp>
        <p:nvSpPr>
          <p:cNvPr id="52" name="Shape 50"/>
          <p:cNvSpPr/>
          <p:nvPr/>
        </p:nvSpPr>
        <p:spPr>
          <a:xfrm>
            <a:off x="10216896" y="5096256"/>
            <a:ext cx="1584960" cy="36576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53" name="Text 51"/>
          <p:cNvSpPr/>
          <p:nvPr/>
        </p:nvSpPr>
        <p:spPr>
          <a:xfrm>
            <a:off x="10180320" y="5169408"/>
            <a:ext cx="1658112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in inventory control measures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B8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36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Findings</a:t>
            </a:r>
            <a:endParaRPr lang="en-US" sz="2933" dirty="0"/>
          </a:p>
        </p:txBody>
      </p:sp>
      <p:sp>
        <p:nvSpPr>
          <p:cNvPr id="4" name="Text 2"/>
          <p:cNvSpPr/>
          <p:nvPr/>
        </p:nvSpPr>
        <p:spPr>
          <a:xfrm>
            <a:off x="365760" y="950976"/>
            <a:ext cx="114604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Results – Tables &amp; Proofs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423610" y="1219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B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 (Procurement Fraud)</a:t>
            </a:r>
            <a:endParaRPr lang="en-US" sz="1267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714109"/>
              </p:ext>
            </p:extLst>
          </p:nvPr>
        </p:nvGraphicFramePr>
        <p:xfrm>
          <a:off x="432097" y="1526073"/>
          <a:ext cx="4876800" cy="1676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Chi-Square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32.865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 Ratio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Linear-by-Linear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of Valid Cases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86287" y="3267737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 &lt; 0.05 → H₀ Rejected. Ethical practices significantly impact audit effectiveness</a:t>
            </a:r>
            <a:r>
              <a:rPr lang="en-US" sz="1067" i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67" dirty="0"/>
          </a:p>
        </p:txBody>
      </p:sp>
      <p:sp>
        <p:nvSpPr>
          <p:cNvPr id="8" name="Text 5"/>
          <p:cNvSpPr/>
          <p:nvPr/>
        </p:nvSpPr>
        <p:spPr>
          <a:xfrm>
            <a:off x="6339840" y="1219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B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 (Expense Reimbursement)</a:t>
            </a:r>
            <a:endParaRPr lang="en-US" sz="1267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894748"/>
              </p:ext>
            </p:extLst>
          </p:nvPr>
        </p:nvGraphicFramePr>
        <p:xfrm>
          <a:off x="6339840" y="1536192"/>
          <a:ext cx="5852160" cy="914400"/>
        </p:xfrm>
        <a:graphic>
          <a:graphicData uri="http://schemas.openxmlformats.org/drawingml/2006/table">
            <a:tbl>
              <a:tblPr/>
              <a:tblGrid>
                <a:gridCol w="268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 Docs ↔ Fake Claim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0.195*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H₀ Rejected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Detection ↔ Internal Audit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0.186*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H₀ Rejected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339840" y="253593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B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 (Corruption &amp; Training)</a:t>
            </a:r>
            <a:endParaRPr lang="en-US" sz="1267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4327"/>
              </p:ext>
            </p:extLst>
          </p:nvPr>
        </p:nvGraphicFramePr>
        <p:xfrm>
          <a:off x="6339840" y="2897940"/>
          <a:ext cx="5120640" cy="12293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 Groups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0.019*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Groups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138.953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151.934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81896" y="3685271"/>
            <a:ext cx="1146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PERCENTAGE FINDINGS</a:t>
            </a:r>
            <a:endParaRPr lang="en-US" dirty="0"/>
          </a:p>
        </p:txBody>
      </p:sp>
      <p:sp>
        <p:nvSpPr>
          <p:cNvPr id="13" name="Shape 8"/>
          <p:cNvSpPr/>
          <p:nvPr/>
        </p:nvSpPr>
        <p:spPr>
          <a:xfrm>
            <a:off x="365760" y="4191537"/>
            <a:ext cx="3596640" cy="1097280"/>
          </a:xfrm>
          <a:prstGeom prst="rect">
            <a:avLst/>
          </a:prstGeom>
          <a:solidFill>
            <a:srgbClr val="B8000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416859" y="4279392"/>
            <a:ext cx="359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73.5%</a:t>
            </a:r>
            <a:endParaRPr lang="en-US" sz="3200" dirty="0"/>
          </a:p>
        </p:txBody>
      </p:sp>
      <p:sp>
        <p:nvSpPr>
          <p:cNvPr id="15" name="Text 10"/>
          <p:cNvSpPr/>
          <p:nvPr/>
        </p:nvSpPr>
        <p:spPr>
          <a:xfrm>
            <a:off x="432097" y="4777829"/>
            <a:ext cx="359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respondents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230624" y="4224528"/>
            <a:ext cx="3596640" cy="1097280"/>
          </a:xfrm>
          <a:prstGeom prst="rect">
            <a:avLst/>
          </a:prstGeom>
          <a:solidFill>
            <a:srgbClr val="8B000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12"/>
          <p:cNvSpPr/>
          <p:nvPr/>
        </p:nvSpPr>
        <p:spPr>
          <a:xfrm>
            <a:off x="4264689" y="4302581"/>
            <a:ext cx="359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41.9%</a:t>
            </a:r>
            <a:endParaRPr lang="en-US" sz="3200" dirty="0"/>
          </a:p>
        </p:txBody>
      </p:sp>
      <p:sp>
        <p:nvSpPr>
          <p:cNvPr id="18" name="Text 13"/>
          <p:cNvSpPr/>
          <p:nvPr/>
        </p:nvSpPr>
        <p:spPr>
          <a:xfrm>
            <a:off x="4264689" y="4813808"/>
            <a:ext cx="359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26-35 yrs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061423" y="4191537"/>
            <a:ext cx="3596640" cy="1097280"/>
          </a:xfrm>
          <a:prstGeom prst="rect">
            <a:avLst/>
          </a:prstGeom>
          <a:solidFill>
            <a:srgbClr val="B8000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061423" y="4333061"/>
            <a:ext cx="359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42.6%</a:t>
            </a:r>
            <a:endParaRPr lang="en-US" sz="3200" dirty="0"/>
          </a:p>
        </p:txBody>
      </p:sp>
      <p:sp>
        <p:nvSpPr>
          <p:cNvPr id="21" name="Text 16"/>
          <p:cNvSpPr/>
          <p:nvPr/>
        </p:nvSpPr>
        <p:spPr>
          <a:xfrm>
            <a:off x="8061423" y="4834607"/>
            <a:ext cx="359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employees</a:t>
            </a:r>
            <a:endParaRPr lang="en-US" sz="1133" dirty="0"/>
          </a:p>
        </p:txBody>
      </p:sp>
      <p:sp>
        <p:nvSpPr>
          <p:cNvPr id="22" name="Shape 17"/>
          <p:cNvSpPr/>
          <p:nvPr/>
        </p:nvSpPr>
        <p:spPr>
          <a:xfrm>
            <a:off x="365760" y="5500385"/>
            <a:ext cx="3596640" cy="1097280"/>
          </a:xfrm>
          <a:prstGeom prst="rect">
            <a:avLst/>
          </a:prstGeom>
          <a:solidFill>
            <a:srgbClr val="B8000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365760" y="5692708"/>
            <a:ext cx="359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49.3%</a:t>
            </a:r>
            <a:endParaRPr lang="en-US" sz="3200" dirty="0"/>
          </a:p>
        </p:txBody>
      </p:sp>
      <p:sp>
        <p:nvSpPr>
          <p:cNvPr id="24" name="Text 19"/>
          <p:cNvSpPr/>
          <p:nvPr/>
        </p:nvSpPr>
        <p:spPr>
          <a:xfrm>
            <a:off x="365760" y="6220789"/>
            <a:ext cx="359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yrs experience</a:t>
            </a:r>
            <a:endParaRPr lang="en-US" sz="1400" dirty="0"/>
          </a:p>
        </p:txBody>
      </p:sp>
      <p:sp>
        <p:nvSpPr>
          <p:cNvPr id="11" name="Shape 20"/>
          <p:cNvSpPr/>
          <p:nvPr/>
        </p:nvSpPr>
        <p:spPr>
          <a:xfrm>
            <a:off x="4230624" y="5489269"/>
            <a:ext cx="3596640" cy="1097280"/>
          </a:xfrm>
          <a:prstGeom prst="rect">
            <a:avLst/>
          </a:prstGeom>
          <a:solidFill>
            <a:srgbClr val="8B000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4264689" y="5524411"/>
            <a:ext cx="359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55.2%</a:t>
            </a:r>
            <a:endParaRPr lang="en-US" sz="3200" dirty="0"/>
          </a:p>
        </p:txBody>
      </p:sp>
      <p:sp>
        <p:nvSpPr>
          <p:cNvPr id="27" name="Text 22"/>
          <p:cNvSpPr/>
          <p:nvPr/>
        </p:nvSpPr>
        <p:spPr>
          <a:xfrm>
            <a:off x="4364736" y="6119428"/>
            <a:ext cx="359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Agree: anti-corruption policy strong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8095488" y="5448868"/>
            <a:ext cx="3596640" cy="1097280"/>
          </a:xfrm>
          <a:prstGeom prst="rect">
            <a:avLst/>
          </a:prstGeom>
          <a:solidFill>
            <a:srgbClr val="B8000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7927311" y="5542100"/>
            <a:ext cx="359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56.6%</a:t>
            </a:r>
            <a:endParaRPr lang="en-US" sz="3200" dirty="0"/>
          </a:p>
        </p:txBody>
      </p:sp>
      <p:sp>
        <p:nvSpPr>
          <p:cNvPr id="30" name="Text 25"/>
          <p:cNvSpPr/>
          <p:nvPr/>
        </p:nvSpPr>
        <p:spPr>
          <a:xfrm>
            <a:off x="7977512" y="6065400"/>
            <a:ext cx="359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 of ethical guidelines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B8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36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Suggestion</a:t>
            </a:r>
            <a:endParaRPr lang="en-US" sz="2933" dirty="0"/>
          </a:p>
        </p:txBody>
      </p:sp>
      <p:sp>
        <p:nvSpPr>
          <p:cNvPr id="4" name="Text 2"/>
          <p:cNvSpPr/>
          <p:nvPr/>
        </p:nvSpPr>
        <p:spPr>
          <a:xfrm>
            <a:off x="365760" y="950976"/>
            <a:ext cx="114604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67" dirty="0"/>
          </a:p>
        </p:txBody>
      </p:sp>
      <p:sp>
        <p:nvSpPr>
          <p:cNvPr id="5" name="Shape 3"/>
          <p:cNvSpPr/>
          <p:nvPr/>
        </p:nvSpPr>
        <p:spPr>
          <a:xfrm>
            <a:off x="365760" y="1682496"/>
            <a:ext cx="554736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65504"/>
            <a:ext cx="5547360" cy="341376"/>
          </a:xfrm>
          <a:prstGeom prst="rect">
            <a:avLst/>
          </a:prstGeom>
          <a:solidFill>
            <a:srgbClr val="B80000"/>
          </a:solidFill>
          <a:ln/>
        </p:spPr>
      </p:sp>
      <p:sp>
        <p:nvSpPr>
          <p:cNvPr id="7" name="Text 5"/>
          <p:cNvSpPr/>
          <p:nvPr/>
        </p:nvSpPr>
        <p:spPr>
          <a:xfrm>
            <a:off x="487680" y="1365504"/>
            <a:ext cx="5303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7680" y="1743456"/>
            <a:ext cx="53035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67" dirty="0"/>
          </a:p>
        </p:txBody>
      </p:sp>
      <p:sp>
        <p:nvSpPr>
          <p:cNvPr id="10" name="Text 8"/>
          <p:cNvSpPr/>
          <p:nvPr/>
        </p:nvSpPr>
        <p:spPr>
          <a:xfrm>
            <a:off x="396240" y="1682496"/>
            <a:ext cx="53035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Strengthen vendor verification procedures; enforce transparent procurement with complete digital documentation; conduct frequent internal audits using technology.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56960" y="1682496"/>
            <a:ext cx="554736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56960" y="1365504"/>
            <a:ext cx="5547360" cy="341376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278880" y="1365504"/>
            <a:ext cx="5303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78880" y="1743456"/>
            <a:ext cx="53035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67" dirty="0"/>
          </a:p>
        </p:txBody>
      </p:sp>
      <p:sp>
        <p:nvSpPr>
          <p:cNvPr id="16" name="Text 14"/>
          <p:cNvSpPr/>
          <p:nvPr/>
        </p:nvSpPr>
        <p:spPr>
          <a:xfrm>
            <a:off x="6187440" y="1706880"/>
            <a:ext cx="53035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Implement real-time automated inventory tracking, barcode systems &amp; periodic physical verification to minimize stock discrepancies.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3316224"/>
            <a:ext cx="554736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72384"/>
            <a:ext cx="5547360" cy="341376"/>
          </a:xfrm>
          <a:prstGeom prst="rect">
            <a:avLst/>
          </a:prstGeom>
          <a:solidFill>
            <a:srgbClr val="B8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487680" y="3072384"/>
            <a:ext cx="5303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7680" y="3450336"/>
            <a:ext cx="53035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67" dirty="0"/>
          </a:p>
        </p:txBody>
      </p:sp>
      <p:sp>
        <p:nvSpPr>
          <p:cNvPr id="22" name="Text 20"/>
          <p:cNvSpPr/>
          <p:nvPr/>
        </p:nvSpPr>
        <p:spPr>
          <a:xfrm>
            <a:off x="396240" y="3587807"/>
            <a:ext cx="53035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Integrate biometric attendance with payroll; strengthen salary authorization procedures; regularly audit payroll records.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56960" y="3323937"/>
            <a:ext cx="554736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56960" y="3072384"/>
            <a:ext cx="5547360" cy="341376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278880" y="3072384"/>
            <a:ext cx="5303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Reimbursement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78880" y="3450336"/>
            <a:ext cx="53035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67" dirty="0"/>
          </a:p>
        </p:txBody>
      </p:sp>
      <p:sp>
        <p:nvSpPr>
          <p:cNvPr id="28" name="Text 26"/>
          <p:cNvSpPr/>
          <p:nvPr/>
        </p:nvSpPr>
        <p:spPr>
          <a:xfrm>
            <a:off x="6187440" y="3477705"/>
            <a:ext cx="55168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Implement digital expense tracking systems; enforce mandatory document submission; conduct regular reimbursement audits.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96240" y="5035296"/>
            <a:ext cx="554736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779264"/>
            <a:ext cx="5547360" cy="341376"/>
          </a:xfrm>
          <a:prstGeom prst="rect">
            <a:avLst/>
          </a:prstGeom>
          <a:solidFill>
            <a:srgbClr val="B8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487680" y="4779264"/>
            <a:ext cx="5303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Statements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7680" y="5157216"/>
            <a:ext cx="53035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67" dirty="0"/>
          </a:p>
        </p:txBody>
      </p:sp>
      <p:sp>
        <p:nvSpPr>
          <p:cNvPr id="34" name="Text 32"/>
          <p:cNvSpPr/>
          <p:nvPr/>
        </p:nvSpPr>
        <p:spPr>
          <a:xfrm>
            <a:off x="487680" y="5157216"/>
            <a:ext cx="53035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Upgrade fraud detection systems with AI/advanced analytics; increase internal audit frequency to improve financial transparency</a:t>
            </a:r>
            <a:r>
              <a:rPr lang="en-US" sz="1173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73" dirty="0"/>
          </a:p>
        </p:txBody>
      </p:sp>
      <p:sp>
        <p:nvSpPr>
          <p:cNvPr id="35" name="Shape 33"/>
          <p:cNvSpPr/>
          <p:nvPr/>
        </p:nvSpPr>
        <p:spPr>
          <a:xfrm>
            <a:off x="6187440" y="4997226"/>
            <a:ext cx="554736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156960" y="4779264"/>
            <a:ext cx="5547360" cy="341376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6278880" y="4779264"/>
            <a:ext cx="5303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Anti-Corruption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278880" y="5157216"/>
            <a:ext cx="53035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67" dirty="0"/>
          </a:p>
        </p:txBody>
      </p:sp>
      <p:sp>
        <p:nvSpPr>
          <p:cNvPr id="40" name="Text 38"/>
          <p:cNvSpPr/>
          <p:nvPr/>
        </p:nvSpPr>
        <p:spPr>
          <a:xfrm>
            <a:off x="6309360" y="5137806"/>
            <a:ext cx="53035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Conduct regular fraud awareness &amp; compliance training; strengthen confidential whistleblowing mechanisms; take timely action against violations.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26720" y="24384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67" dirty="0"/>
          </a:p>
        </p:txBody>
      </p:sp>
      <p:sp>
        <p:nvSpPr>
          <p:cNvPr id="4" name="Shape 2"/>
          <p:cNvSpPr/>
          <p:nvPr/>
        </p:nvSpPr>
        <p:spPr>
          <a:xfrm>
            <a:off x="426720" y="792480"/>
            <a:ext cx="4876800" cy="48768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5" name="Shape 3"/>
          <p:cNvSpPr/>
          <p:nvPr/>
        </p:nvSpPr>
        <p:spPr>
          <a:xfrm>
            <a:off x="426720" y="950976"/>
            <a:ext cx="11338560" cy="950976"/>
          </a:xfrm>
          <a:prstGeom prst="rect">
            <a:avLst/>
          </a:prstGeom>
          <a:solidFill>
            <a:srgbClr val="8B0000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24128"/>
            <a:ext cx="390144" cy="390144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24128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1072896" y="999744"/>
            <a:ext cx="1050950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Kolon Industries has implemented effective fraud detection mechanisms across procurement, inventory, payroll, financial reporting, asset management &amp; anti-corruption areas.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6720" y="1999488"/>
            <a:ext cx="11338560" cy="950976"/>
          </a:xfrm>
          <a:prstGeom prst="rect">
            <a:avLst/>
          </a:prstGeom>
          <a:solidFill>
            <a:srgbClr val="A00000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072640"/>
            <a:ext cx="390144" cy="390144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72640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1072896" y="2048256"/>
            <a:ext cx="1050950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employees positively perceive internal control systems; procurement transparency, payroll controls &amp; inventory monitoring are functioning satisfactorily.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6720" y="3048000"/>
            <a:ext cx="11338560" cy="950976"/>
          </a:xfrm>
          <a:prstGeom prst="rect">
            <a:avLst/>
          </a:prstGeom>
          <a:solidFill>
            <a:srgbClr val="8B0000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121152"/>
            <a:ext cx="390144" cy="390144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21152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1072896" y="3096768"/>
            <a:ext cx="1050950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results (Chi-Square, Correlation, ANOVA, Regression, T-Test) confirm that ethical practices, internal audits, training programs &amp; updated inventory records significantly influence fraud detection effectiveness.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6720" y="4096512"/>
            <a:ext cx="11338560" cy="950976"/>
          </a:xfrm>
          <a:prstGeom prst="rect">
            <a:avLst/>
          </a:prstGeom>
          <a:solidFill>
            <a:srgbClr val="A00000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169664"/>
            <a:ext cx="390144" cy="390144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169664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1072896" y="4145280"/>
            <a:ext cx="1050950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neutrality and disagreement among respondents indicate the need for stronger awareness programs, better transparency &amp; more effective fraud prevention communication.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6720" y="5145024"/>
            <a:ext cx="11338560" cy="950976"/>
          </a:xfrm>
          <a:prstGeom prst="rect">
            <a:avLst/>
          </a:prstGeom>
          <a:solidFill>
            <a:srgbClr val="8B0000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218176"/>
            <a:ext cx="390144" cy="390144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218176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1072896" y="5193792"/>
            <a:ext cx="1050950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 through advanced technology, regular audits, employee training, and real-time monitoring is essential to further strengthen fraud prevention and ensure financial integrity.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43840" y="6224016"/>
            <a:ext cx="1170432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6BED13-EA7E-8F76-6496-715BA0728BCA}"/>
              </a:ext>
            </a:extLst>
          </p:cNvPr>
          <p:cNvSpPr/>
          <p:nvPr/>
        </p:nvSpPr>
        <p:spPr>
          <a:xfrm>
            <a:off x="0" y="0"/>
            <a:ext cx="12192000" cy="78464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6E90F5-DAAB-5AD8-58D5-A9323776425B}"/>
              </a:ext>
            </a:extLst>
          </p:cNvPr>
          <p:cNvSpPr txBox="1"/>
          <p:nvPr/>
        </p:nvSpPr>
        <p:spPr>
          <a:xfrm>
            <a:off x="426720" y="221087"/>
            <a:ext cx="53016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CONCLUSION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1444752"/>
            <a:ext cx="12161520" cy="36576"/>
          </a:xfrm>
          <a:prstGeom prst="rect">
            <a:avLst/>
          </a:prstGeom>
          <a:solidFill>
            <a:srgbClr val="E8BBBB"/>
          </a:solidFill>
          <a:ln w="12700">
            <a:solidFill>
              <a:srgbClr val="E8BBB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2103120"/>
            <a:ext cx="12161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8B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2286000" y="4041648"/>
            <a:ext cx="7589520" cy="36576"/>
          </a:xfrm>
          <a:prstGeom prst="rect">
            <a:avLst/>
          </a:prstGeom>
          <a:solidFill>
            <a:srgbClr val="E8BBBB"/>
          </a:solidFill>
          <a:ln w="12700">
            <a:solidFill>
              <a:srgbClr val="E8BB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187952"/>
            <a:ext cx="1216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4617720"/>
            <a:ext cx="1216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0" y="5010912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6492240"/>
            <a:ext cx="12161520" cy="36576"/>
          </a:xfrm>
          <a:prstGeom prst="rect">
            <a:avLst/>
          </a:prstGeom>
          <a:solidFill>
            <a:srgbClr val="E8BBBB"/>
          </a:solidFill>
          <a:ln w="12700">
            <a:solidFill>
              <a:srgbClr val="E8BBB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064240" y="65105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1334</Words>
  <Application>Microsoft Office PowerPoint</Application>
  <PresentationFormat>Widescreen</PresentationFormat>
  <Paragraphs>264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Meenakshi Srinivasan</dc:creator>
  <cp:lastModifiedBy>Meenakshi S</cp:lastModifiedBy>
  <cp:revision>35</cp:revision>
  <dcterms:created xsi:type="dcterms:W3CDTF">2026-05-31T13:24:38Z</dcterms:created>
  <dcterms:modified xsi:type="dcterms:W3CDTF">2026-06-08T16:34:38Z</dcterms:modified>
</cp:coreProperties>
</file>